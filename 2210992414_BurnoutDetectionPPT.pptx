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0" r:id="rId7"/>
    <p:sldId id="269" r:id="rId8"/>
    <p:sldId id="271" r:id="rId9"/>
    <p:sldId id="272" r:id="rId10"/>
    <p:sldId id="274" r:id="rId11"/>
    <p:sldId id="275" r:id="rId12"/>
    <p:sldId id="276" r:id="rId13"/>
    <p:sldId id="277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15461-01CB-4249-83FC-EC5122A67DD8}" v="86" dt="2026-03-22T16:56:02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66"/>
  </p:normalViewPr>
  <p:slideViewPr>
    <p:cSldViewPr snapToGrid="0">
      <p:cViewPr varScale="1">
        <p:scale>
          <a:sx n="102" d="100"/>
          <a:sy n="102" d="100"/>
        </p:scale>
        <p:origin x="17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3/22/26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4800" dirty="0">
                <a:latin typeface="Times New Roman" panose="02020603050405020304" pitchFamily="18" charset="0"/>
                <a:ea typeface="Garamond" pitchFamily="34" charset="-122"/>
                <a:cs typeface="Times New Roman" panose="02020603050405020304" pitchFamily="18" charset="0"/>
              </a:rPr>
              <a:t>Machine Learning Based Early Detection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dirty="0">
                <a:latin typeface="Times New Roman" panose="02020603050405020304" pitchFamily="18" charset="0"/>
                <a:ea typeface="Garamond" pitchFamily="34" charset="-122"/>
                <a:cs typeface="Times New Roman" panose="02020603050405020304" pitchFamily="18" charset="0"/>
              </a:rPr>
              <a:t>of Burnout in Young Adults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Suhana Kaura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2210992414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 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Kumar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looks at whether machine learning can detect burnout risk in young adults early — before it reaches a severe stage. Burnout among students and early-career professionals is increasing, yet most detection methods only kick in after symptoms have already become serious.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study collects data through a structured questionnaire covering: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patterns and sleep deprivation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Daily study or work hours and workload pressure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Stress levels, emotional exhaustion, and motivation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Exercise frequency and screen time</a:t>
            </a:r>
          </a:p>
          <a:p>
            <a:pPr>
              <a:spcAft>
                <a:spcPts val="40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machine learning classifiers — Logistic Regression, Random Forest, and Support Vector Machine — were trained on this data to classify individuals as Low, Moderate, or High burnout risk.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endParaRPr lang="en-US" sz="1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70114-2CB0-4BF6-A257-B22D8B43C1C8}"/>
              </a:ext>
            </a:extLst>
          </p:cNvPr>
          <p:cNvSpPr txBox="1"/>
          <p:nvPr/>
        </p:nvSpPr>
        <p:spPr>
          <a:xfrm>
            <a:off x="238217" y="1541586"/>
            <a:ext cx="831670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Burnout among young adults typically goes undetected until it has already reached a critical level.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current standard for detection — self-report surveys like the Maslach Burnout Inventory — is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reactive by design.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Because of this: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are assessed only after they seek help, not before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 that point, burnout has usually been building for months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no proactive system that flags risk early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Young adults juggling college and work are among the most affected but least 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studied group</a:t>
            </a:r>
          </a:p>
          <a:p>
            <a:pPr>
              <a:spcAft>
                <a:spcPts val="40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existing approaches either require expensive wearable hardware or focus on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employed adults in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organised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workplaces — neither of which fits the young adult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demographic well.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3D4B9-FA7B-FC16-96DA-CEA570BE0BAC}"/>
              </a:ext>
            </a:extLst>
          </p:cNvPr>
          <p:cNvSpPr txBox="1"/>
          <p:nvPr/>
        </p:nvSpPr>
        <p:spPr>
          <a:xfrm>
            <a:off x="391185" y="1203089"/>
            <a:ext cx="8728672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main goals of this study were: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machine learning pipeline that predicts burnout risk from questionnaire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three classifiers — Logistic Regression, Random Forest, and SVM — to identify the best 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performing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 which behavioral and psychological features most strongly predict burnout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Demonstrate that a low-cost, hardware-free approach can serve as a practical early warning tool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Establish a methodological foundation for larger-scale future studies in this demographic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300A-180D-4E8A-5E7A-3C7415EE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2BBF3-9CB5-8D2A-6D15-F4596DF94EA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2119" y="712150"/>
            <a:ext cx="8229240" cy="3977280"/>
          </a:xfrm>
        </p:spPr>
        <p:txBody>
          <a:bodyPr/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was collected from 23 respondents via a structured Google Form. Since 23 responses alone are insufficient to train a reliable model, 200 synthetic samples were generated using rule-based logic grounded in burnout research — giving a combined dataset of 223 instances.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pipeline followed these steps: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responses encoded to numeric values (1–5 ordinal scale)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Burnout risk labels derived using a weighted composite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split 80/20 into training (178 samples) and testing (45 samples)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classifiers trained and evaluated using accuracy, precision, recall, and F1-score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importance analysis run on the best-performing model (Random Forest)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DB09-F1A5-0BC3-8EEF-3C5C0660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(Detailed Flow)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F62DB-F4D6-ACFB-1033-0DB457785A8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4565" y="702646"/>
            <a:ext cx="3501025" cy="3977280"/>
          </a:xfrm>
        </p:spPr>
        <p:txBody>
          <a:bodyPr/>
          <a:lstStyle/>
          <a:p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Conventional Approach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 feels burned out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Seeks help from counsellor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Counsellor administers MBI survey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Burnout confirmed — already severe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Intervention begins too late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90EE1BE3-49A1-7F5E-2893-F190DEC76AC1}"/>
              </a:ext>
            </a:extLst>
          </p:cNvPr>
          <p:cNvSpPr/>
          <p:nvPr/>
        </p:nvSpPr>
        <p:spPr>
          <a:xfrm>
            <a:off x="4255091" y="1691640"/>
            <a:ext cx="36576" cy="32004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622C2-B186-D56C-3365-5BB7A9402B25}"/>
              </a:ext>
            </a:extLst>
          </p:cNvPr>
          <p:cNvSpPr txBox="1"/>
          <p:nvPr/>
        </p:nvSpPr>
        <p:spPr>
          <a:xfrm>
            <a:off x="4471792" y="1720361"/>
            <a:ext cx="4305987" cy="2349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Study's Approach</a:t>
            </a:r>
            <a:b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 fills simple Google 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 encoded to numbers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ML model predicts risk level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Output: Low / Moderate / High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Counsellor alerted early — before breakdown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2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BC95-EB5F-A783-0BEE-9DDC082A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DC1D0-593F-93A1-A9BE-4B6DE8A85FB9}"/>
              </a:ext>
            </a:extLst>
          </p:cNvPr>
          <p:cNvSpPr txBox="1"/>
          <p:nvPr/>
        </p:nvSpPr>
        <p:spPr>
          <a:xfrm>
            <a:off x="451821" y="1420009"/>
            <a:ext cx="6603090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following tools and technologies were used: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3.10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programming language for the ML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Regression, Random Forest, SVM implementation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Pandas &amp; NumPy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loading, preprocessing, and feature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StandardScaler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normalisation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before model training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Matplotlib &amp; Seaborn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charts and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visualisations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for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Forms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data collection from 23 respondents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</a:t>
            </a:r>
            <a:r>
              <a:rPr lang="en-US" sz="1600" b="1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cloud-based environment for running the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39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E7F72-82F6-A44B-C793-8CE6A119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Results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C1379-BCBD-4509-4B81-B87F92F2F8D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49803" y="197924"/>
            <a:ext cx="8229240" cy="2958635"/>
          </a:xfrm>
        </p:spPr>
        <p:txBody>
          <a:bodyPr/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three classifiers were evaluated on 45 held-out test samples: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C6F56-2C75-8D03-F784-2A9D923E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7" y="1729827"/>
            <a:ext cx="7772400" cy="33983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CFF73F-09E8-5248-34CC-B85C749DDFE3}"/>
              </a:ext>
            </a:extLst>
          </p:cNvPr>
          <p:cNvSpPr txBox="1"/>
          <p:nvPr/>
        </p:nvSpPr>
        <p:spPr>
          <a:xfrm>
            <a:off x="187890" y="5486400"/>
            <a:ext cx="90829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performed best across all four metrics. The 13-point accuracy gap over Logistic Regression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that burnout risk does not follow a linear pattern — ensemble methods handle this non-linearity well.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5-fold cross-validation confirmed consistency: Random Forest averaged 86.2% ± 2.1% across folds.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4B69-E999-8624-7E0F-51B5883B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Learnings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5BA4B-F77A-EBC6-B1A0-A2722A8D78D5}"/>
              </a:ext>
            </a:extLst>
          </p:cNvPr>
          <p:cNvSpPr txBox="1"/>
          <p:nvPr/>
        </p:nvSpPr>
        <p:spPr>
          <a:xfrm>
            <a:off x="387275" y="1366221"/>
            <a:ext cx="8380499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primary dataset of only 23 responses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Deriving meaningful labels without clinical diagnosis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Balancing synthetic and real data without overfitting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Choosing appropriate feature weights for composite scoring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Importance of data quality over quantity in ML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feature engineering affects model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Practical application of ensemble methods on small datasets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interpretability tools like feature importance make ML output actionable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improved my understanding of end-to-end ML pipelines, from raw data collection and </a:t>
            </a:r>
          </a:p>
          <a:p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through to model evaluation and result interpretation.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26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0AC6-1E6D-2AD3-A1F7-B59A6AF8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1AF4DBC-169D-8753-CC99-5261108CB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19" y="1735129"/>
            <a:ext cx="79067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C. Maslach and M. P. Leiter, “Understanding the burnout experience,” World Psychiatry, vol. 15, no. 2, pp. 103–111, 2016.</a:t>
            </a:r>
          </a:p>
          <a:p>
            <a:endParaRPr lang="en-US" sz="1200" dirty="0">
              <a:solidFill>
                <a:srgbClr val="22222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A.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Gjoreski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“Continuous stress detection using a wrist device,” in Proc. ACM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UbiComp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2016.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G. Mark et al., “Email duration, batching and self-interruption,” in Proc. ACM CHI, 2016.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M. Gkotsis et al., “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Characterisation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mental health conditions using deep learning,” Sci. Rep., vol. 7, 2017.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F. Bianchi et al., “Predictors of occupational burnout,” Int. J. Environ. Res. Public Health, vol. 15, 2018.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L.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“Random forests,” Mach. Learn., vol. 45, no. 1, pp. 5–32, 2001.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World Health Organization, “Burn-out an ‘occupational phenomenon’,” ICD-11, WHO, 2019.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8034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34900</TotalTime>
  <Words>972</Words>
  <Application>Microsoft Macintosh PowerPoint</Application>
  <PresentationFormat>On-screen Show (4:3)</PresentationFormat>
  <Paragraphs>123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Objectives</vt:lpstr>
      <vt:lpstr>Methodology Overview</vt:lpstr>
      <vt:lpstr>Methodology (Detailed Flow)</vt:lpstr>
      <vt:lpstr>Tools and Technologies</vt:lpstr>
      <vt:lpstr>Results</vt:lpstr>
      <vt:lpstr>Challenges and Learnings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Suhana Kaura</cp:lastModifiedBy>
  <cp:revision>2299</cp:revision>
  <dcterms:created xsi:type="dcterms:W3CDTF">2010-04-09T07:36:15Z</dcterms:created>
  <dcterms:modified xsi:type="dcterms:W3CDTF">2026-03-22T16:56:33Z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